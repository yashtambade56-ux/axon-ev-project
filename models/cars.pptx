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57" r:id="rId4"/>
    <p:sldId id="260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55" autoAdjust="0"/>
    <p:restoredTop sz="94667"/>
  </p:normalViewPr>
  <p:slideViewPr>
    <p:cSldViewPr snapToGrid="0">
      <p:cViewPr>
        <p:scale>
          <a:sx n="71" d="100"/>
          <a:sy n="71" d="100"/>
        </p:scale>
        <p:origin x="2024" y="131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E43CD-4A37-FA20-D6CE-C75516FBE5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96998A-A0A9-E1D7-60E7-EE224FD6B8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FBCCC-9180-7F84-0195-A8E248D58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AD5CD-7BEE-4065-81E4-7A8B4AFA48CF}" type="datetimeFigureOut">
              <a:rPr lang="en-IN" smtClean="0"/>
              <a:t>02/03/26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DE4768-BE7D-B2A1-191A-F71472E2E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4634F-31FB-3902-6497-A9EBB565E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01A77-87CD-46B2-BB0C-1268686EB3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8991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2D9CC-A77C-F8B2-FDBB-CB5D85B26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D1C36-F38B-F428-4A78-7B125A50D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9399C-08E6-04C0-7ADC-F5EFD7AC2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AD5CD-7BEE-4065-81E4-7A8B4AFA48CF}" type="datetimeFigureOut">
              <a:rPr lang="en-IN" smtClean="0"/>
              <a:t>02/03/26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7EB219-5C38-11B4-18D4-CF47A5C15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1A7CB-5BDA-B2D1-EC6A-3D1E1F726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01A77-87CD-46B2-BB0C-1268686EB3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1947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A0617-9CA4-C9E7-DD37-CB7F92CAF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0BEEA2-2266-C50A-736C-39C6851869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A7DA7-958E-D57C-D4D3-F3620B645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AD5CD-7BEE-4065-81E4-7A8B4AFA48CF}" type="datetimeFigureOut">
              <a:rPr lang="en-IN" smtClean="0"/>
              <a:t>02/03/26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9B1EC-6E00-65A2-29B7-6DA6CA3D3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8107F-8C28-E3C9-2093-A60662536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01A77-87CD-46B2-BB0C-1268686EB3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504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DDC11-8815-7C71-52C9-F90F8FC5C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10FB0-C89E-2A7D-6E58-544D2E72E6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9CA921-53D2-3FC5-E2F9-CB3459A10B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351B04-9508-A845-1085-D61C75B71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AD5CD-7BEE-4065-81E4-7A8B4AFA48CF}" type="datetimeFigureOut">
              <a:rPr lang="en-IN" smtClean="0"/>
              <a:t>02/03/26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FFE50F-A701-EFA8-3984-C9E23A65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934C5F-60C3-A4E4-5480-49C2D22DE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01A77-87CD-46B2-BB0C-1268686EB3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386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82CB6-CA40-60B4-2AB2-6DB43E0AB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D19A6C-9C6C-79B1-D7F5-2C7C738BE8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489435-36E9-3022-0CBC-6FC9F11CC0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5E65FC-F7C4-32B7-BDAA-36A5F87B29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594505-0D79-1A47-AD7B-0EA33AB43A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0AA04B-308E-065E-2DC3-0E05E4817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AD5CD-7BEE-4065-81E4-7A8B4AFA48CF}" type="datetimeFigureOut">
              <a:rPr lang="en-IN" smtClean="0"/>
              <a:t>02/03/26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2254F7-5D8D-7D6A-55AD-F19C7FBF8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B077D7-7BEF-E9C7-419F-352422CDC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01A77-87CD-46B2-BB0C-1268686EB3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8052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BFD53-588C-508F-97CA-22CA59A4A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27F5EC-D2D5-6657-0554-1B13B93CC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AD5CD-7BEE-4065-81E4-7A8B4AFA48CF}" type="datetimeFigureOut">
              <a:rPr lang="en-IN" smtClean="0"/>
              <a:t>02/03/26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1BDB2D-8C52-4EA6-D28F-B341918A9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9D4CE9-56D9-B1B7-30E9-6AA2382CD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01A77-87CD-46B2-BB0C-1268686EB3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75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9B459-D1BA-2C0A-29FD-7E737E5DF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AD5CD-7BEE-4065-81E4-7A8B4AFA48CF}" type="datetimeFigureOut">
              <a:rPr lang="en-IN" smtClean="0"/>
              <a:t>02/03/26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761F88-C383-B756-42ED-76A927557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DE95C-8F8B-9333-CFEF-49638EE30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01A77-87CD-46B2-BB0C-1268686EB3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3386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9A3BA-3DC8-CFFC-F866-5E64570B1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87D2B-4FEC-ECC2-5A37-A3D3BB333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FDEB85-CED4-73D3-43E1-4F483B7054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F97ACB-D405-793D-5C16-CEFCD204A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AD5CD-7BEE-4065-81E4-7A8B4AFA48CF}" type="datetimeFigureOut">
              <a:rPr lang="en-IN" smtClean="0"/>
              <a:t>02/03/26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9467A9-5912-DB97-9E1C-E776156C2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D20C02-D896-CEBE-1321-97BA88F33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01A77-87CD-46B2-BB0C-1268686EB3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0541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14C75-159C-A49A-D570-D07E3608E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7CF361-9069-7E88-C541-1F46B8EB56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691E8-15D0-9E7B-8856-7BA02301E5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E32CE5-8A96-B140-0516-FA1377A2B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AD5CD-7BEE-4065-81E4-7A8B4AFA48CF}" type="datetimeFigureOut">
              <a:rPr lang="en-IN" smtClean="0"/>
              <a:t>02/03/26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2BA97C-EE43-2387-B086-0BF91D939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E5B600-4B45-20CF-EC91-A563F36BD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01A77-87CD-46B2-BB0C-1268686EB3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3176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90790-459A-CC4F-73CD-3EB6B832A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9DD8A8-AAA1-4A2C-89E9-46D3FE7BE9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7134FB-84EC-B1AB-7653-EA40608F4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AD5CD-7BEE-4065-81E4-7A8B4AFA48CF}" type="datetimeFigureOut">
              <a:rPr lang="en-IN" smtClean="0"/>
              <a:t>02/03/26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46B8D-BDDC-7F33-6B47-3426E8A4E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87AD4-E7C8-FC80-CA38-B89072511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01A77-87CD-46B2-BB0C-1268686EB3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6859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751C63-6626-4488-E1F0-87571DCC3C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BB3A86-69CA-3AE9-D05C-39D9EFAA76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4A06F-51D2-F2B6-35DB-8D9F0B7CE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AD5CD-7BEE-4065-81E4-7A8B4AFA48CF}" type="datetimeFigureOut">
              <a:rPr lang="en-IN" smtClean="0"/>
              <a:t>02/03/26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EFD72-F380-E263-7BA0-655C85F81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AC9FA-F439-7384-213E-5BAEF89ED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01A77-87CD-46B2-BB0C-1268686EB3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3252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2A35EC-5600-C153-1ADA-5CBBE1E19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61EBDD-93DA-BC3D-581B-BABD05EA5D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557C6-79C6-9467-12F5-86645EF486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0AD5CD-7BEE-4065-81E4-7A8B4AFA48CF}" type="datetimeFigureOut">
              <a:rPr lang="en-IN" smtClean="0"/>
              <a:t>02/03/26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00B4E-0AFE-D7DE-9164-6615FF8C71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38934-CE73-8F1C-0E2F-D5A1FF3A4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301A77-87CD-46B2-BB0C-1268686EB3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5665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6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9126A-C517-8A6B-E14B-C5C65A949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7A902616-5099-CF3E-A0C8-0797354510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7416" y="-217335"/>
            <a:ext cx="16723090" cy="80864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DE86D31-2F4D-B74B-0D43-61104F2B6E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60" y="-754195"/>
            <a:ext cx="11654080" cy="9097274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014251EC-2759-1485-10FC-4F8E5B2C1BEC}"/>
              </a:ext>
            </a:extLst>
          </p:cNvPr>
          <p:cNvGrpSpPr/>
          <p:nvPr/>
        </p:nvGrpSpPr>
        <p:grpSpPr>
          <a:xfrm>
            <a:off x="268959" y="-736600"/>
            <a:ext cx="11654080" cy="9097274"/>
            <a:chOff x="1839310" y="1302589"/>
            <a:chExt cx="8513379" cy="6858000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287F6FF3-6BB0-D30A-D806-8637265DE5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9310" y="1302589"/>
              <a:ext cx="8513379" cy="685800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002BDAA9-1C27-BD0C-A236-E69889A170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8371" y="4634103"/>
              <a:ext cx="1743378" cy="1404388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FDD5F59-C108-EFEB-BA22-24F40A5E53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5859" y="4668611"/>
              <a:ext cx="1657708" cy="1335376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B630D51-FDB6-7434-BAB1-802E309EE919}"/>
              </a:ext>
            </a:extLst>
          </p:cNvPr>
          <p:cNvSpPr txBox="1"/>
          <p:nvPr/>
        </p:nvSpPr>
        <p:spPr>
          <a:xfrm>
            <a:off x="2543813" y="-455466"/>
            <a:ext cx="710437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800" dirty="0">
                <a:latin typeface="Eras Bold ITC" panose="020B0907030504020204" pitchFamily="34" charset="0"/>
              </a:rPr>
              <a:t>BMW i5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709FD7-78EC-058E-9E85-39EDDB1ED4BC}"/>
              </a:ext>
            </a:extLst>
          </p:cNvPr>
          <p:cNvSpPr txBox="1"/>
          <p:nvPr/>
        </p:nvSpPr>
        <p:spPr>
          <a:xfrm>
            <a:off x="3249282" y="5185137"/>
            <a:ext cx="56934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gency FB" panose="020B0503020202020204" pitchFamily="34" charset="0"/>
              </a:rPr>
              <a:t>Precision meets power.</a:t>
            </a:r>
            <a:br>
              <a:rPr lang="en-US" sz="2000" b="1" dirty="0">
                <a:latin typeface="Agency FB" panose="020B0503020202020204" pitchFamily="34" charset="0"/>
              </a:rPr>
            </a:br>
            <a:r>
              <a:rPr lang="en-US" sz="1600" dirty="0">
                <a:latin typeface="Agency FB" panose="020B0503020202020204" pitchFamily="34" charset="0"/>
              </a:rPr>
              <a:t>0–100 km/h in 3.8s · Dual Motor AWD · 520 km range</a:t>
            </a:r>
            <a:endParaRPr lang="en-IN" sz="2000" dirty="0">
              <a:latin typeface="Agency FB" panose="020B0503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7112F6-0B6E-EAF7-4D61-7325886CE546}"/>
              </a:ext>
            </a:extLst>
          </p:cNvPr>
          <p:cNvSpPr txBox="1"/>
          <p:nvPr/>
        </p:nvSpPr>
        <p:spPr>
          <a:xfrm>
            <a:off x="2543813" y="-455466"/>
            <a:ext cx="710437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800" dirty="0">
                <a:ln>
                  <a:solidFill>
                    <a:sysClr val="windowText" lastClr="000000"/>
                  </a:solidFill>
                </a:ln>
                <a:noFill/>
                <a:latin typeface="Eras Bold ITC" panose="020B0907030504020204" pitchFamily="34" charset="0"/>
              </a:rPr>
              <a:t>BMW i5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DCEA16D-2D6D-F32E-5F3A-AEFD20EF02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388" y="3665125"/>
            <a:ext cx="2386534" cy="18629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2C13BEC-491F-3EBF-7078-E6A0DA998C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1502" y="3710900"/>
            <a:ext cx="2269259" cy="1771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600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270EC-1AF4-E607-3218-6110B1E4A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70DCEB2B-44BD-8C61-C5DE-5EDCA06A35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2926" y="-217335"/>
            <a:ext cx="16723090" cy="80864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9EEF3E-C091-046D-B75A-19B1551B518E}"/>
              </a:ext>
            </a:extLst>
          </p:cNvPr>
          <p:cNvSpPr txBox="1"/>
          <p:nvPr/>
        </p:nvSpPr>
        <p:spPr>
          <a:xfrm>
            <a:off x="2543813" y="1081393"/>
            <a:ext cx="710437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800" dirty="0">
                <a:latin typeface="Eras Bold ITC" panose="020B0907030504020204" pitchFamily="34" charset="0"/>
              </a:rPr>
              <a:t>BMW i5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4F8A75D-D96E-C627-CF87-2C550FD3F0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59" y="-736600"/>
            <a:ext cx="11654080" cy="909727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30A3F67-BED8-579C-963B-FBE1E19631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387" y="3682720"/>
            <a:ext cx="2386534" cy="186294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E2E14CF-E7AA-1A01-85E7-AB07FDDB34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1501" y="3728495"/>
            <a:ext cx="2269259" cy="17714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76CE54-C070-1E3E-0DE2-B3CC6F3DA541}"/>
              </a:ext>
            </a:extLst>
          </p:cNvPr>
          <p:cNvSpPr txBox="1"/>
          <p:nvPr/>
        </p:nvSpPr>
        <p:spPr>
          <a:xfrm>
            <a:off x="3249282" y="5066806"/>
            <a:ext cx="56934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gency FB" panose="020B0503020202020204" pitchFamily="34" charset="0"/>
              </a:rPr>
              <a:t>Precision meets power.</a:t>
            </a:r>
            <a:br>
              <a:rPr lang="en-US" sz="2000" b="1" dirty="0">
                <a:latin typeface="Agency FB" panose="020B0503020202020204" pitchFamily="34" charset="0"/>
              </a:rPr>
            </a:br>
            <a:r>
              <a:rPr lang="en-US" sz="1600" dirty="0">
                <a:latin typeface="Agency FB" panose="020B0503020202020204" pitchFamily="34" charset="0"/>
              </a:rPr>
              <a:t>0–100 km/h in 3.8s · Dual Motor AWD · 520 km range</a:t>
            </a:r>
            <a:endParaRPr lang="en-IN" sz="2000" dirty="0">
              <a:latin typeface="Agency FB" panose="020B0503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ED51E4-EB9B-ECD4-78D6-FBBBE0650FD2}"/>
              </a:ext>
            </a:extLst>
          </p:cNvPr>
          <p:cNvSpPr txBox="1"/>
          <p:nvPr/>
        </p:nvSpPr>
        <p:spPr>
          <a:xfrm>
            <a:off x="2543813" y="1081393"/>
            <a:ext cx="710437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800" dirty="0">
                <a:ln>
                  <a:solidFill>
                    <a:sysClr val="windowText" lastClr="000000"/>
                  </a:solidFill>
                </a:ln>
                <a:noFill/>
                <a:latin typeface="Eras Bold ITC" panose="020B0907030504020204" pitchFamily="34" charset="0"/>
              </a:rPr>
              <a:t>BMW i5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F340743-812D-DE98-CDC3-ED5EA78B92BF}"/>
              </a:ext>
            </a:extLst>
          </p:cNvPr>
          <p:cNvGrpSpPr/>
          <p:nvPr/>
        </p:nvGrpSpPr>
        <p:grpSpPr>
          <a:xfrm>
            <a:off x="16220164" y="-245085"/>
            <a:ext cx="6837164" cy="5201424"/>
            <a:chOff x="3429948" y="1081393"/>
            <a:chExt cx="5332104" cy="4359507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2450740-F381-0D0E-98F9-7615969752D4}"/>
                </a:ext>
              </a:extLst>
            </p:cNvPr>
            <p:cNvSpPr txBox="1"/>
            <p:nvPr/>
          </p:nvSpPr>
          <p:spPr>
            <a:xfrm>
              <a:off x="3429948" y="1081393"/>
              <a:ext cx="5332104" cy="43595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600" dirty="0">
                  <a:latin typeface="Eras Bold ITC" panose="020B0907030504020204" pitchFamily="34" charset="0"/>
                </a:rPr>
                <a:t>Cyber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EB9867DF-D6A2-14B2-FFC6-90F4E4D797CF}"/>
                </a:ext>
              </a:extLst>
            </p:cNvPr>
            <p:cNvSpPr txBox="1"/>
            <p:nvPr/>
          </p:nvSpPr>
          <p:spPr>
            <a:xfrm>
              <a:off x="6688655" y="2566182"/>
              <a:ext cx="1921305" cy="696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800" dirty="0">
                  <a:latin typeface="Eras Bold ITC" panose="020B0907030504020204" pitchFamily="34" charset="0"/>
                </a:rPr>
                <a:t>truck</a:t>
              </a: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4BC34DC0-CCC8-4270-091C-E4873E9C9DA1}"/>
              </a:ext>
            </a:extLst>
          </p:cNvPr>
          <p:cNvSpPr txBox="1"/>
          <p:nvPr/>
        </p:nvSpPr>
        <p:spPr>
          <a:xfrm>
            <a:off x="16458281" y="6136281"/>
            <a:ext cx="61765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gency FB" panose="020B0503020202020204" pitchFamily="34" charset="0"/>
              </a:rPr>
              <a:t>Rugged design. Unlimited capability</a:t>
            </a:r>
            <a:r>
              <a:rPr lang="en-US" dirty="0">
                <a:latin typeface="Agency FB" panose="020B0503020202020204" pitchFamily="34" charset="0"/>
              </a:rPr>
              <a:t>.</a:t>
            </a:r>
            <a:br>
              <a:rPr lang="en-US" dirty="0">
                <a:latin typeface="Agency FB" panose="020B0503020202020204" pitchFamily="34" charset="0"/>
              </a:rPr>
            </a:br>
            <a:r>
              <a:rPr lang="en-US" sz="1400" dirty="0">
                <a:latin typeface="Agency FB" panose="020B0503020202020204" pitchFamily="34" charset="0"/>
              </a:rPr>
              <a:t>580 km range · AWD · Ultra-durable body</a:t>
            </a:r>
            <a:endParaRPr lang="en-IN" dirty="0">
              <a:latin typeface="Agency FB" panose="020B0503020202020204" pitchFamily="34" charset="0"/>
            </a:endParaRPr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2A500B8B-0858-93E3-9CF1-5B41AC0243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2373411" y="-245085"/>
            <a:ext cx="13850953" cy="8114244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2924974F-42C3-AF90-FF9E-6BFACBDEB8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861157">
            <a:off x="14903101" y="3462623"/>
            <a:ext cx="2004720" cy="2070314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E8F62D56-9A38-6955-C580-C9CF0B2D36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898488">
            <a:off x="21639516" y="3484912"/>
            <a:ext cx="2004720" cy="2070314"/>
          </a:xfrm>
          <a:prstGeom prst="rect">
            <a:avLst/>
          </a:prstGeom>
        </p:spPr>
      </p:pic>
      <p:grpSp>
        <p:nvGrpSpPr>
          <p:cNvPr id="72" name="Group 71">
            <a:extLst>
              <a:ext uri="{FF2B5EF4-FFF2-40B4-BE49-F238E27FC236}">
                <a16:creationId xmlns:a16="http://schemas.microsoft.com/office/drawing/2014/main" id="{06399741-38CC-1487-8738-C7C2AB7FEEEA}"/>
              </a:ext>
            </a:extLst>
          </p:cNvPr>
          <p:cNvGrpSpPr/>
          <p:nvPr/>
        </p:nvGrpSpPr>
        <p:grpSpPr>
          <a:xfrm>
            <a:off x="16221892" y="-245085"/>
            <a:ext cx="6837164" cy="2646878"/>
            <a:chOff x="3429948" y="1081393"/>
            <a:chExt cx="5332104" cy="2218447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98FDE198-1449-8547-5AC3-0A53E5E0A191}"/>
                </a:ext>
              </a:extLst>
            </p:cNvPr>
            <p:cNvSpPr txBox="1"/>
            <p:nvPr/>
          </p:nvSpPr>
          <p:spPr>
            <a:xfrm>
              <a:off x="3429948" y="1081393"/>
              <a:ext cx="5332104" cy="22184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600" dirty="0">
                  <a:ln>
                    <a:solidFill>
                      <a:sysClr val="windowText" lastClr="000000"/>
                    </a:solidFill>
                  </a:ln>
                  <a:noFill/>
                  <a:latin typeface="Eras Bold ITC" panose="020B0907030504020204" pitchFamily="34" charset="0"/>
                </a:rPr>
                <a:t>Cyber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11DCE460-5B80-E24F-9482-2AB5720C380B}"/>
                </a:ext>
              </a:extLst>
            </p:cNvPr>
            <p:cNvSpPr txBox="1"/>
            <p:nvPr/>
          </p:nvSpPr>
          <p:spPr>
            <a:xfrm>
              <a:off x="6688655" y="2566182"/>
              <a:ext cx="1921305" cy="696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800" dirty="0">
                  <a:ln>
                    <a:solidFill>
                      <a:sysClr val="windowText" lastClr="000000"/>
                    </a:solidFill>
                  </a:ln>
                  <a:noFill/>
                  <a:latin typeface="Eras Bold ITC" panose="020B0907030504020204" pitchFamily="34" charset="0"/>
                </a:rPr>
                <a:t>truck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650080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BBBAA9E4-2B62-9A01-4601-F1B4959A40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7416" y="-217335"/>
            <a:ext cx="16723090" cy="8086494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6F1AAD14-1E48-48F1-E04F-87A4AEADCB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077127" y="-245085"/>
            <a:ext cx="13850953" cy="8114244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6AFD884-CE4B-0F50-2770-0953E452DD60}"/>
              </a:ext>
            </a:extLst>
          </p:cNvPr>
          <p:cNvGrpSpPr/>
          <p:nvPr/>
        </p:nvGrpSpPr>
        <p:grpSpPr>
          <a:xfrm>
            <a:off x="2769626" y="-245085"/>
            <a:ext cx="6837164" cy="5201424"/>
            <a:chOff x="3429948" y="1081393"/>
            <a:chExt cx="5332104" cy="435950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9F3C69B-5236-80D5-03EE-BEF220AB94E6}"/>
                </a:ext>
              </a:extLst>
            </p:cNvPr>
            <p:cNvSpPr txBox="1"/>
            <p:nvPr/>
          </p:nvSpPr>
          <p:spPr>
            <a:xfrm>
              <a:off x="3429948" y="1081393"/>
              <a:ext cx="5332104" cy="43595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600" dirty="0">
                  <a:latin typeface="Eras Bold ITC" panose="020B0907030504020204" pitchFamily="34" charset="0"/>
                </a:rPr>
                <a:t>Cyber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FB4CC2F-0A1A-0CE7-F33F-30A344F20CBB}"/>
                </a:ext>
              </a:extLst>
            </p:cNvPr>
            <p:cNvSpPr txBox="1"/>
            <p:nvPr/>
          </p:nvSpPr>
          <p:spPr>
            <a:xfrm>
              <a:off x="6688655" y="2566182"/>
              <a:ext cx="1921305" cy="696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800" dirty="0">
                  <a:latin typeface="Eras Bold ITC" panose="020B0907030504020204" pitchFamily="34" charset="0"/>
                </a:rPr>
                <a:t>truck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0FFA04B-2C9B-A60A-DA7A-DB9768337A6E}"/>
              </a:ext>
            </a:extLst>
          </p:cNvPr>
          <p:cNvSpPr txBox="1"/>
          <p:nvPr/>
        </p:nvSpPr>
        <p:spPr>
          <a:xfrm>
            <a:off x="3007743" y="5006724"/>
            <a:ext cx="61765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gency FB" panose="020B0503020202020204" pitchFamily="34" charset="0"/>
              </a:rPr>
              <a:t>Rugged design. Unlimited capability</a:t>
            </a:r>
            <a:r>
              <a:rPr lang="en-US" dirty="0">
                <a:latin typeface="Agency FB" panose="020B0503020202020204" pitchFamily="34" charset="0"/>
              </a:rPr>
              <a:t>.</a:t>
            </a:r>
            <a:br>
              <a:rPr lang="en-US" dirty="0">
                <a:latin typeface="Agency FB" panose="020B0503020202020204" pitchFamily="34" charset="0"/>
              </a:rPr>
            </a:br>
            <a:r>
              <a:rPr lang="en-US" sz="1400" dirty="0">
                <a:latin typeface="Agency FB" panose="020B0503020202020204" pitchFamily="34" charset="0"/>
              </a:rPr>
              <a:t>580 km range · AWD · Ultra-durable body</a:t>
            </a:r>
            <a:endParaRPr lang="en-IN" dirty="0">
              <a:latin typeface="Agency FB" panose="020B0503020202020204" pitchFamily="34" charset="0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67D3B0EF-4B55-E7B4-237A-E743F1E189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2563" y="3462623"/>
            <a:ext cx="2004720" cy="207031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BE7C3404-4944-6664-F949-B5AC61F3D7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7469" y="3484912"/>
            <a:ext cx="2004720" cy="2070314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D08EC37C-BCCB-3DFE-9B4D-393A269A1232}"/>
              </a:ext>
            </a:extLst>
          </p:cNvPr>
          <p:cNvGrpSpPr/>
          <p:nvPr/>
        </p:nvGrpSpPr>
        <p:grpSpPr>
          <a:xfrm>
            <a:off x="2771354" y="-245085"/>
            <a:ext cx="6837164" cy="2646878"/>
            <a:chOff x="3429948" y="1081393"/>
            <a:chExt cx="5332104" cy="2218447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EF3573A-264C-11AE-81E2-E6DD30089882}"/>
                </a:ext>
              </a:extLst>
            </p:cNvPr>
            <p:cNvSpPr txBox="1"/>
            <p:nvPr/>
          </p:nvSpPr>
          <p:spPr>
            <a:xfrm>
              <a:off x="3429948" y="1081393"/>
              <a:ext cx="5332104" cy="22184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600" dirty="0">
                  <a:ln>
                    <a:solidFill>
                      <a:sysClr val="windowText" lastClr="000000"/>
                    </a:solidFill>
                  </a:ln>
                  <a:noFill/>
                  <a:latin typeface="Eras Bold ITC" panose="020B0907030504020204" pitchFamily="34" charset="0"/>
                </a:rPr>
                <a:t>Cyber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B0B533B-5787-F289-9359-A8E449A91A47}"/>
                </a:ext>
              </a:extLst>
            </p:cNvPr>
            <p:cNvSpPr txBox="1"/>
            <p:nvPr/>
          </p:nvSpPr>
          <p:spPr>
            <a:xfrm>
              <a:off x="6688655" y="2566182"/>
              <a:ext cx="1921305" cy="696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800" dirty="0">
                  <a:ln>
                    <a:solidFill>
                      <a:sysClr val="windowText" lastClr="000000"/>
                    </a:solidFill>
                  </a:ln>
                  <a:noFill/>
                  <a:latin typeface="Eras Bold ITC" panose="020B0907030504020204" pitchFamily="34" charset="0"/>
                </a:rPr>
                <a:t>truck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61A44ED4-0EFD-6609-2A56-9CCEBE5DC907}"/>
              </a:ext>
            </a:extLst>
          </p:cNvPr>
          <p:cNvSpPr txBox="1"/>
          <p:nvPr/>
        </p:nvSpPr>
        <p:spPr>
          <a:xfrm>
            <a:off x="-9726853" y="1081393"/>
            <a:ext cx="710437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800" dirty="0">
                <a:latin typeface="Eras Bold ITC" panose="020B0907030504020204" pitchFamily="34" charset="0"/>
              </a:rPr>
              <a:t>BMW i5</a:t>
            </a: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E0CA2675-2B69-8380-683A-7B5E0AE433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01707" y="-736600"/>
            <a:ext cx="11654080" cy="9097274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4DB889ED-C622-F2A6-A57B-8B3EF0BBDD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046020">
            <a:off x="-4460279" y="3682720"/>
            <a:ext cx="2386534" cy="1862949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96B9B1CF-1CFA-645C-6B85-CCE57BF32C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134746">
            <a:off x="-10829165" y="3728495"/>
            <a:ext cx="2269259" cy="1771403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D353B3D0-850F-FFAE-9668-060BE2463B32}"/>
              </a:ext>
            </a:extLst>
          </p:cNvPr>
          <p:cNvSpPr txBox="1"/>
          <p:nvPr/>
        </p:nvSpPr>
        <p:spPr>
          <a:xfrm>
            <a:off x="-9021384" y="6067270"/>
            <a:ext cx="56934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gency FB" panose="020B0503020202020204" pitchFamily="34" charset="0"/>
              </a:rPr>
              <a:t>Precision meets power.</a:t>
            </a:r>
            <a:br>
              <a:rPr lang="en-US" sz="2000" b="1" dirty="0">
                <a:latin typeface="Agency FB" panose="020B0503020202020204" pitchFamily="34" charset="0"/>
              </a:rPr>
            </a:br>
            <a:r>
              <a:rPr lang="en-US" sz="1600" dirty="0">
                <a:latin typeface="Agency FB" panose="020B0503020202020204" pitchFamily="34" charset="0"/>
              </a:rPr>
              <a:t>0–100 km/h in 3.8s · Dual Motor AWD · 520 km range</a:t>
            </a:r>
            <a:endParaRPr lang="en-IN" sz="2000" dirty="0">
              <a:latin typeface="Agency FB" panose="020B0503020202020204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FFA3684-CCCA-F573-5B0F-DAC3F736A741}"/>
              </a:ext>
            </a:extLst>
          </p:cNvPr>
          <p:cNvSpPr txBox="1"/>
          <p:nvPr/>
        </p:nvSpPr>
        <p:spPr>
          <a:xfrm>
            <a:off x="-9726853" y="1081393"/>
            <a:ext cx="710437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800" dirty="0">
                <a:ln>
                  <a:solidFill>
                    <a:sysClr val="windowText" lastClr="000000"/>
                  </a:solidFill>
                </a:ln>
                <a:noFill/>
                <a:latin typeface="Eras Bold ITC" panose="020B0907030504020204" pitchFamily="34" charset="0"/>
              </a:rPr>
              <a:t>BMW i5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8C49C12-34F7-8F06-2D8B-726ABF936373}"/>
              </a:ext>
            </a:extLst>
          </p:cNvPr>
          <p:cNvSpPr txBox="1"/>
          <p:nvPr/>
        </p:nvSpPr>
        <p:spPr>
          <a:xfrm>
            <a:off x="14663559" y="1009991"/>
            <a:ext cx="803837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800" dirty="0" err="1">
                <a:latin typeface="Eras Bold ITC" panose="020B0907030504020204" pitchFamily="34" charset="0"/>
              </a:rPr>
              <a:t>Avatr</a:t>
            </a:r>
            <a:r>
              <a:rPr lang="en-IN" sz="13800" dirty="0">
                <a:latin typeface="Eras Bold ITC" panose="020B0907030504020204" pitchFamily="34" charset="0"/>
              </a:rPr>
              <a:t> 12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1175E30-78D3-5113-49E1-0D4BF3572E28}"/>
              </a:ext>
            </a:extLst>
          </p:cNvPr>
          <p:cNvSpPr txBox="1"/>
          <p:nvPr/>
        </p:nvSpPr>
        <p:spPr>
          <a:xfrm>
            <a:off x="15534690" y="6127417"/>
            <a:ext cx="56639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Agency FB" panose="020B0503020202020204" pitchFamily="34" charset="0"/>
              </a:rPr>
              <a:t>Silent. Smart. Sophisticated.</a:t>
            </a:r>
            <a:br>
              <a:rPr lang="en-IN" b="1" dirty="0">
                <a:latin typeface="Agency FB" panose="020B0503020202020204" pitchFamily="34" charset="0"/>
              </a:rPr>
            </a:br>
            <a:r>
              <a:rPr lang="en-IN" sz="1400" dirty="0">
                <a:latin typeface="Agency FB" panose="020B0503020202020204" pitchFamily="34" charset="0"/>
              </a:rPr>
              <a:t>610 km range · AI cockpit · Fast charge 30 min</a:t>
            </a:r>
            <a:endParaRPr lang="en-IN" dirty="0">
              <a:latin typeface="Agency FB" panose="020B0503020202020204" pitchFamily="34" charset="0"/>
            </a:endParaRP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CE71AD4F-B1B2-A79B-A788-3BC53D77AB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8819" y="827998"/>
            <a:ext cx="10495694" cy="5075652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41A021B4-E49D-0A02-D89B-D4245BD5E552}"/>
              </a:ext>
            </a:extLst>
          </p:cNvPr>
          <p:cNvSpPr txBox="1"/>
          <p:nvPr/>
        </p:nvSpPr>
        <p:spPr>
          <a:xfrm>
            <a:off x="14663559" y="1009991"/>
            <a:ext cx="803837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800" dirty="0" err="1">
                <a:ln>
                  <a:solidFill>
                    <a:sysClr val="windowText" lastClr="000000"/>
                  </a:solidFill>
                </a:ln>
                <a:noFill/>
                <a:latin typeface="Eras Bold ITC" panose="020B0907030504020204" pitchFamily="34" charset="0"/>
              </a:rPr>
              <a:t>Avatr</a:t>
            </a:r>
            <a:r>
              <a:rPr lang="en-IN" sz="13800" dirty="0">
                <a:ln>
                  <a:solidFill>
                    <a:sysClr val="windowText" lastClr="000000"/>
                  </a:solidFill>
                </a:ln>
                <a:noFill/>
                <a:latin typeface="Eras Bold ITC" panose="020B0907030504020204" pitchFamily="34" charset="0"/>
              </a:rPr>
              <a:t> 12</a:t>
            </a:r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4E393FBC-FF5F-4909-8576-E62C2499DA4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485962">
            <a:off x="14061018" y="3499865"/>
            <a:ext cx="2023898" cy="1931903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59977743-F6B9-FF28-73E4-04E44142055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836243">
            <a:off x="20389412" y="3461490"/>
            <a:ext cx="2023898" cy="1931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9446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D99F3AEB-6931-658F-21CC-1673B61363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7416" y="-217335"/>
            <a:ext cx="16723090" cy="808649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F47C905-FACC-4A2C-47FB-F11079A86EDD}"/>
              </a:ext>
            </a:extLst>
          </p:cNvPr>
          <p:cNvSpPr txBox="1"/>
          <p:nvPr/>
        </p:nvSpPr>
        <p:spPr>
          <a:xfrm>
            <a:off x="2392893" y="1009991"/>
            <a:ext cx="803837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800" dirty="0" err="1">
                <a:latin typeface="Eras Bold ITC" panose="020B0907030504020204" pitchFamily="34" charset="0"/>
              </a:rPr>
              <a:t>Avatr</a:t>
            </a:r>
            <a:r>
              <a:rPr lang="en-IN" sz="13800" dirty="0">
                <a:latin typeface="Eras Bold ITC" panose="020B0907030504020204" pitchFamily="34" charset="0"/>
              </a:rPr>
              <a:t> 12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3B34A5-A22C-81BA-A964-E7E9A908B3CE}"/>
              </a:ext>
            </a:extLst>
          </p:cNvPr>
          <p:cNvSpPr txBox="1"/>
          <p:nvPr/>
        </p:nvSpPr>
        <p:spPr>
          <a:xfrm>
            <a:off x="3264024" y="5083925"/>
            <a:ext cx="56639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Agency FB" panose="020B0503020202020204" pitchFamily="34" charset="0"/>
              </a:rPr>
              <a:t>Silent. Smart. Sophisticated.</a:t>
            </a:r>
            <a:br>
              <a:rPr lang="en-IN" b="1" dirty="0">
                <a:latin typeface="Agency FB" panose="020B0503020202020204" pitchFamily="34" charset="0"/>
              </a:rPr>
            </a:br>
            <a:r>
              <a:rPr lang="en-IN" sz="1400" dirty="0">
                <a:latin typeface="Agency FB" panose="020B0503020202020204" pitchFamily="34" charset="0"/>
              </a:rPr>
              <a:t>610 km range · AI cockpit · Fast charge 30 min</a:t>
            </a:r>
            <a:endParaRPr lang="en-IN" dirty="0">
              <a:latin typeface="Agency FB" panose="020B0503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8FEE27-9E47-0154-E0ED-D5A7FD0037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153" y="827998"/>
            <a:ext cx="10495694" cy="50756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08D31FA-DCA4-0BCD-02F1-6BEDC3C41F3A}"/>
              </a:ext>
            </a:extLst>
          </p:cNvPr>
          <p:cNvSpPr txBox="1"/>
          <p:nvPr/>
        </p:nvSpPr>
        <p:spPr>
          <a:xfrm>
            <a:off x="2392893" y="1009991"/>
            <a:ext cx="803837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800" dirty="0" err="1">
                <a:ln>
                  <a:solidFill>
                    <a:sysClr val="windowText" lastClr="000000"/>
                  </a:solidFill>
                </a:ln>
                <a:noFill/>
                <a:latin typeface="Eras Bold ITC" panose="020B0907030504020204" pitchFamily="34" charset="0"/>
              </a:rPr>
              <a:t>Avatr</a:t>
            </a:r>
            <a:r>
              <a:rPr lang="en-IN" sz="13800" dirty="0">
                <a:ln>
                  <a:solidFill>
                    <a:sysClr val="windowText" lastClr="000000"/>
                  </a:solidFill>
                </a:ln>
                <a:noFill/>
                <a:latin typeface="Eras Bold ITC" panose="020B0907030504020204" pitchFamily="34" charset="0"/>
              </a:rPr>
              <a:t> 12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C695284-0D94-7221-15DD-5C05E5FB5B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1358" y="3440871"/>
            <a:ext cx="2023898" cy="193190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BFD9FE9-8E2B-0130-6DB7-EF454FDBBF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9249" y="3431993"/>
            <a:ext cx="2023898" cy="1931903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1469ED01-81D9-DDFC-55A9-DF0AF601F80A}"/>
              </a:ext>
            </a:extLst>
          </p:cNvPr>
          <p:cNvGrpSpPr/>
          <p:nvPr/>
        </p:nvGrpSpPr>
        <p:grpSpPr>
          <a:xfrm>
            <a:off x="-9796008" y="-245085"/>
            <a:ext cx="6837164" cy="5201424"/>
            <a:chOff x="3429948" y="1081393"/>
            <a:chExt cx="5332104" cy="435950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E844E09-52B6-8B67-A0C9-B318D492D803}"/>
                </a:ext>
              </a:extLst>
            </p:cNvPr>
            <p:cNvSpPr txBox="1"/>
            <p:nvPr/>
          </p:nvSpPr>
          <p:spPr>
            <a:xfrm>
              <a:off x="3429948" y="1081393"/>
              <a:ext cx="5332104" cy="43595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600" dirty="0">
                  <a:latin typeface="Eras Bold ITC" panose="020B0907030504020204" pitchFamily="34" charset="0"/>
                </a:rPr>
                <a:t>Cyber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AD5EB62-64F4-52F8-A828-15945FCE3DD4}"/>
                </a:ext>
              </a:extLst>
            </p:cNvPr>
            <p:cNvSpPr txBox="1"/>
            <p:nvPr/>
          </p:nvSpPr>
          <p:spPr>
            <a:xfrm>
              <a:off x="6688655" y="2566182"/>
              <a:ext cx="1921305" cy="696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800" dirty="0">
                  <a:latin typeface="Eras Bold ITC" panose="020B0907030504020204" pitchFamily="34" charset="0"/>
                </a:rPr>
                <a:t>truck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070BA381-3AAA-D62F-001F-A9421E25357E}"/>
              </a:ext>
            </a:extLst>
          </p:cNvPr>
          <p:cNvSpPr txBox="1"/>
          <p:nvPr/>
        </p:nvSpPr>
        <p:spPr>
          <a:xfrm>
            <a:off x="-9557891" y="6136281"/>
            <a:ext cx="61765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gency FB" panose="020B0503020202020204" pitchFamily="34" charset="0"/>
              </a:rPr>
              <a:t>Rugged design. Unlimited capability</a:t>
            </a:r>
            <a:r>
              <a:rPr lang="en-US" dirty="0">
                <a:latin typeface="Agency FB" panose="020B0503020202020204" pitchFamily="34" charset="0"/>
              </a:rPr>
              <a:t>.</a:t>
            </a:r>
            <a:br>
              <a:rPr lang="en-US" dirty="0">
                <a:latin typeface="Agency FB" panose="020B0503020202020204" pitchFamily="34" charset="0"/>
              </a:rPr>
            </a:br>
            <a:r>
              <a:rPr lang="en-US" sz="1400" dirty="0">
                <a:latin typeface="Agency FB" panose="020B0503020202020204" pitchFamily="34" charset="0"/>
              </a:rPr>
              <a:t>580 km range · AWD · Ultra-durable body</a:t>
            </a:r>
            <a:endParaRPr lang="en-IN" dirty="0">
              <a:latin typeface="Agency FB" panose="020B0503020202020204" pitchFamily="34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D8A6B116-FB9E-A33A-6539-3C34C524EE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3642761" y="-245085"/>
            <a:ext cx="13850953" cy="811424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7785BF4-8522-6989-660A-8D12C240F2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731938">
            <a:off x="-11142568" y="3462623"/>
            <a:ext cx="2004720" cy="207031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F315283-ADDC-141A-FDA4-59DD48822F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440902">
            <a:off x="-4406153" y="3484912"/>
            <a:ext cx="2004720" cy="2070314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BF0A6386-B86F-2BB3-45CB-FC6FD4B7CD27}"/>
              </a:ext>
            </a:extLst>
          </p:cNvPr>
          <p:cNvGrpSpPr/>
          <p:nvPr/>
        </p:nvGrpSpPr>
        <p:grpSpPr>
          <a:xfrm>
            <a:off x="-9794280" y="-245085"/>
            <a:ext cx="6837164" cy="2646878"/>
            <a:chOff x="3429948" y="1081393"/>
            <a:chExt cx="5332104" cy="2218447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5A9DA45-F5BA-BF41-7D40-223A2A6B3E3F}"/>
                </a:ext>
              </a:extLst>
            </p:cNvPr>
            <p:cNvSpPr txBox="1"/>
            <p:nvPr/>
          </p:nvSpPr>
          <p:spPr>
            <a:xfrm>
              <a:off x="3429948" y="1081393"/>
              <a:ext cx="5332104" cy="22184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600" dirty="0">
                  <a:ln>
                    <a:solidFill>
                      <a:sysClr val="windowText" lastClr="000000"/>
                    </a:solidFill>
                  </a:ln>
                  <a:noFill/>
                  <a:latin typeface="Eras Bold ITC" panose="020B0907030504020204" pitchFamily="34" charset="0"/>
                </a:rPr>
                <a:t>Cyber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DA173DC-A134-4247-31B9-F7AC02C23559}"/>
                </a:ext>
              </a:extLst>
            </p:cNvPr>
            <p:cNvSpPr txBox="1"/>
            <p:nvPr/>
          </p:nvSpPr>
          <p:spPr>
            <a:xfrm>
              <a:off x="6688655" y="2566182"/>
              <a:ext cx="1921305" cy="696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800" dirty="0">
                  <a:ln>
                    <a:solidFill>
                      <a:sysClr val="windowText" lastClr="000000"/>
                    </a:solidFill>
                  </a:ln>
                  <a:noFill/>
                  <a:latin typeface="Eras Bold ITC" panose="020B0907030504020204" pitchFamily="34" charset="0"/>
                </a:rPr>
                <a:t>truck</a:t>
              </a: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3C62C7C3-132D-4FB9-4760-457783D742F6}"/>
              </a:ext>
            </a:extLst>
          </p:cNvPr>
          <p:cNvGrpSpPr/>
          <p:nvPr/>
        </p:nvGrpSpPr>
        <p:grpSpPr>
          <a:xfrm>
            <a:off x="16274359" y="-736600"/>
            <a:ext cx="11654080" cy="9097274"/>
            <a:chOff x="16274359" y="-736600"/>
            <a:chExt cx="11654080" cy="9097274"/>
          </a:xfrm>
        </p:grpSpPr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0B0E4496-DD5A-3E10-8EA2-B9BD88963FC7}"/>
                </a:ext>
              </a:extLst>
            </p:cNvPr>
            <p:cNvSpPr txBox="1"/>
            <p:nvPr/>
          </p:nvSpPr>
          <p:spPr>
            <a:xfrm>
              <a:off x="18549213" y="1081393"/>
              <a:ext cx="7104372" cy="22159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3800" dirty="0">
                  <a:latin typeface="Eras Bold ITC" panose="020B0907030504020204" pitchFamily="34" charset="0"/>
                </a:rPr>
                <a:t>BMW i5</a:t>
              </a:r>
            </a:p>
          </p:txBody>
        </p:sp>
        <p:pic>
          <p:nvPicPr>
            <p:cNvPr id="98" name="Picture 97">
              <a:extLst>
                <a:ext uri="{FF2B5EF4-FFF2-40B4-BE49-F238E27FC236}">
                  <a16:creationId xmlns:a16="http://schemas.microsoft.com/office/drawing/2014/main" id="{8777E9DC-83AD-29FC-6B19-B1D4083B8D7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274359" y="-736600"/>
              <a:ext cx="11654080" cy="9097274"/>
            </a:xfrm>
            <a:prstGeom prst="rect">
              <a:avLst/>
            </a:prstGeom>
          </p:spPr>
        </p:pic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A7A30FA5-E33A-9A23-2417-B9DBD45CE30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1046020">
              <a:off x="23815787" y="3682720"/>
              <a:ext cx="2386534" cy="1862949"/>
            </a:xfrm>
            <a:prstGeom prst="rect">
              <a:avLst/>
            </a:prstGeom>
          </p:spPr>
        </p:pic>
        <p:pic>
          <p:nvPicPr>
            <p:cNvPr id="100" name="Picture 99">
              <a:extLst>
                <a:ext uri="{FF2B5EF4-FFF2-40B4-BE49-F238E27FC236}">
                  <a16:creationId xmlns:a16="http://schemas.microsoft.com/office/drawing/2014/main" id="{02D0315A-692A-74CA-4753-16B09F6FF0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1134746">
              <a:off x="17446901" y="3728495"/>
              <a:ext cx="2269259" cy="1771403"/>
            </a:xfrm>
            <a:prstGeom prst="rect">
              <a:avLst/>
            </a:prstGeom>
          </p:spPr>
        </p:pic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B2E9D1DE-EB9D-DA99-F87B-55E6ECC6A2DA}"/>
                </a:ext>
              </a:extLst>
            </p:cNvPr>
            <p:cNvSpPr txBox="1"/>
            <p:nvPr/>
          </p:nvSpPr>
          <p:spPr>
            <a:xfrm>
              <a:off x="19254682" y="6067270"/>
              <a:ext cx="56934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latin typeface="Agency FB" panose="020B0503020202020204" pitchFamily="34" charset="0"/>
                </a:rPr>
                <a:t>Precision meets power.</a:t>
              </a:r>
              <a:br>
                <a:rPr lang="en-US" sz="2000" b="1" dirty="0">
                  <a:latin typeface="Agency FB" panose="020B0503020202020204" pitchFamily="34" charset="0"/>
                </a:rPr>
              </a:br>
              <a:r>
                <a:rPr lang="en-US" sz="1600" dirty="0">
                  <a:latin typeface="Agency FB" panose="020B0503020202020204" pitchFamily="34" charset="0"/>
                </a:rPr>
                <a:t>0–100 km/h in 3.8s · Dual Motor AWD · 520 km range</a:t>
              </a:r>
              <a:endParaRPr lang="en-IN" sz="2000" dirty="0">
                <a:latin typeface="Agency FB" panose="020B0503020202020204" pitchFamily="34" charset="0"/>
              </a:endParaRP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1DD6FE02-AF05-D032-DCFF-3BE22F4E3CE8}"/>
                </a:ext>
              </a:extLst>
            </p:cNvPr>
            <p:cNvSpPr txBox="1"/>
            <p:nvPr/>
          </p:nvSpPr>
          <p:spPr>
            <a:xfrm>
              <a:off x="18549213" y="1081393"/>
              <a:ext cx="7104372" cy="22159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3800" dirty="0">
                  <a:ln>
                    <a:solidFill>
                      <a:sysClr val="windowText" lastClr="000000"/>
                    </a:solidFill>
                  </a:ln>
                  <a:noFill/>
                  <a:latin typeface="Eras Bold ITC" panose="020B0907030504020204" pitchFamily="34" charset="0"/>
                </a:rPr>
                <a:t>BMW i5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462396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45035-4FCE-CC62-C88E-54D9196E3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1DBDDB6A-F8EB-93BB-77A8-F0781E50C5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59" y="-736600"/>
            <a:ext cx="11654080" cy="909727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0F477CF-2694-F0E3-0403-E7BD776E02A2}"/>
              </a:ext>
            </a:extLst>
          </p:cNvPr>
          <p:cNvSpPr txBox="1"/>
          <p:nvPr/>
        </p:nvSpPr>
        <p:spPr>
          <a:xfrm>
            <a:off x="-10170169" y="1009991"/>
            <a:ext cx="803837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800" dirty="0" err="1">
                <a:latin typeface="Eras Bold ITC" panose="020B0907030504020204" pitchFamily="34" charset="0"/>
              </a:rPr>
              <a:t>Avatr</a:t>
            </a:r>
            <a:r>
              <a:rPr lang="en-IN" sz="13800" dirty="0">
                <a:latin typeface="Eras Bold ITC" panose="020B0907030504020204" pitchFamily="34" charset="0"/>
              </a:rPr>
              <a:t> 12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10A1AD-3726-CAB5-6785-34A62AF4D208}"/>
              </a:ext>
            </a:extLst>
          </p:cNvPr>
          <p:cNvSpPr txBox="1"/>
          <p:nvPr/>
        </p:nvSpPr>
        <p:spPr>
          <a:xfrm>
            <a:off x="-9299038" y="5083925"/>
            <a:ext cx="56639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Agency FB" panose="020B0503020202020204" pitchFamily="34" charset="0"/>
              </a:rPr>
              <a:t>Silent. Smart. Sophisticated.</a:t>
            </a:r>
            <a:br>
              <a:rPr lang="en-IN" b="1" dirty="0">
                <a:latin typeface="Agency FB" panose="020B0503020202020204" pitchFamily="34" charset="0"/>
              </a:rPr>
            </a:br>
            <a:r>
              <a:rPr lang="en-IN" sz="1400" dirty="0">
                <a:latin typeface="Agency FB" panose="020B0503020202020204" pitchFamily="34" charset="0"/>
              </a:rPr>
              <a:t>610 km range · AI cockpit · Fast charge 30 min</a:t>
            </a:r>
            <a:endParaRPr lang="en-IN" dirty="0">
              <a:latin typeface="Agency FB" panose="020B0503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09EA50-173B-2851-9768-1DD0512030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14909" y="827998"/>
            <a:ext cx="10495694" cy="50756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503BAF8-E7CC-0BC9-0541-305FA972F9B0}"/>
              </a:ext>
            </a:extLst>
          </p:cNvPr>
          <p:cNvSpPr txBox="1"/>
          <p:nvPr/>
        </p:nvSpPr>
        <p:spPr>
          <a:xfrm>
            <a:off x="-10170169" y="1009991"/>
            <a:ext cx="803837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800" dirty="0" err="1">
                <a:ln>
                  <a:solidFill>
                    <a:sysClr val="windowText" lastClr="000000"/>
                  </a:solidFill>
                </a:ln>
                <a:noFill/>
                <a:latin typeface="Eras Bold ITC" panose="020B0907030504020204" pitchFamily="34" charset="0"/>
              </a:rPr>
              <a:t>Avatr</a:t>
            </a:r>
            <a:r>
              <a:rPr lang="en-IN" sz="13800" dirty="0">
                <a:ln>
                  <a:solidFill>
                    <a:sysClr val="windowText" lastClr="000000"/>
                  </a:solidFill>
                </a:ln>
                <a:noFill/>
                <a:latin typeface="Eras Bold ITC" panose="020B0907030504020204" pitchFamily="34" charset="0"/>
              </a:rPr>
              <a:t> 12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14DCC7-71D7-3D9A-5C8C-D36E25AE63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964080">
            <a:off x="-10831704" y="3440871"/>
            <a:ext cx="2023898" cy="19319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573FC8-7356-AA3F-F88B-27DE852746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866491">
            <a:off x="-4473813" y="3431993"/>
            <a:ext cx="2023898" cy="193190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8E591FF-CECF-EACF-8C5B-2E4F00463578}"/>
              </a:ext>
            </a:extLst>
          </p:cNvPr>
          <p:cNvSpPr txBox="1"/>
          <p:nvPr/>
        </p:nvSpPr>
        <p:spPr>
          <a:xfrm>
            <a:off x="2543813" y="-429359"/>
            <a:ext cx="710437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800" dirty="0">
                <a:latin typeface="Eras Bold ITC" panose="020B0907030504020204" pitchFamily="34" charset="0"/>
              </a:rPr>
              <a:t>BMW i5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6F39A9B-385D-AA50-EC30-147D84616C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439032">
            <a:off x="7810387" y="3682720"/>
            <a:ext cx="2386534" cy="186294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BCA0F40-DD96-083D-8882-D9E7C27C4C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328812">
            <a:off x="1441501" y="3728495"/>
            <a:ext cx="2269259" cy="177140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257D1E2-D8E2-BA92-87AA-903918F9B60E}"/>
              </a:ext>
            </a:extLst>
          </p:cNvPr>
          <p:cNvSpPr txBox="1"/>
          <p:nvPr/>
        </p:nvSpPr>
        <p:spPr>
          <a:xfrm>
            <a:off x="3249282" y="5066806"/>
            <a:ext cx="56934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gency FB" panose="020B0503020202020204" pitchFamily="34" charset="0"/>
              </a:rPr>
              <a:t>Precision meets power.</a:t>
            </a:r>
            <a:br>
              <a:rPr lang="en-US" sz="2000" b="1" dirty="0">
                <a:latin typeface="Agency FB" panose="020B0503020202020204" pitchFamily="34" charset="0"/>
              </a:rPr>
            </a:br>
            <a:r>
              <a:rPr lang="en-US" sz="1600" dirty="0">
                <a:latin typeface="Agency FB" panose="020B0503020202020204" pitchFamily="34" charset="0"/>
              </a:rPr>
              <a:t>0–100 km/h in 3.8s · Dual Motor AWD · 520 km range</a:t>
            </a:r>
            <a:endParaRPr lang="en-IN" sz="2000" dirty="0">
              <a:latin typeface="Agency FB" panose="020B0503020202020204" pitchFamily="34" charset="0"/>
            </a:endParaRPr>
          </a:p>
        </p:txBody>
      </p:sp>
      <p:pic>
        <p:nvPicPr>
          <p:cNvPr id="8" name="Picture 7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4FA006E3-4A61-30C0-29E3-8787F83A62B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7416" y="-217335"/>
            <a:ext cx="16723090" cy="8086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8748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236</Words>
  <Application>Microsoft Macintosh PowerPoint</Application>
  <PresentationFormat>Widescreen</PresentationFormat>
  <Paragraphs>38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Agency FB</vt:lpstr>
      <vt:lpstr>Arial</vt:lpstr>
      <vt:lpstr>Calibri</vt:lpstr>
      <vt:lpstr>Calibri Light</vt:lpstr>
      <vt:lpstr>Eras Bold ITC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yash tambade</dc:creator>
  <cp:lastModifiedBy>yash tambade</cp:lastModifiedBy>
  <cp:revision>3</cp:revision>
  <dcterms:created xsi:type="dcterms:W3CDTF">2026-03-01T09:25:40Z</dcterms:created>
  <dcterms:modified xsi:type="dcterms:W3CDTF">2026-03-02T10:13:27Z</dcterms:modified>
</cp:coreProperties>
</file>